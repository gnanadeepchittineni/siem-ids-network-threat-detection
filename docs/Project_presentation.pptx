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2" r:id="rId2"/>
    <p:sldId id="256" r:id="rId3"/>
    <p:sldId id="265" r:id="rId4"/>
    <p:sldId id="266" r:id="rId5"/>
    <p:sldId id="258" r:id="rId6"/>
    <p:sldId id="259" r:id="rId7"/>
    <p:sldId id="260" r:id="rId8"/>
    <p:sldId id="267" r:id="rId9"/>
    <p:sldId id="268" r:id="rId10"/>
    <p:sldId id="261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530415A-7537-C340-8F35-85B8E9FCB6C8}">
          <p14:sldIdLst>
            <p14:sldId id="262"/>
            <p14:sldId id="256"/>
            <p14:sldId id="265"/>
            <p14:sldId id="266"/>
            <p14:sldId id="258"/>
            <p14:sldId id="259"/>
            <p14:sldId id="260"/>
            <p14:sldId id="267"/>
            <p14:sldId id="268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38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2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27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tiff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>
            <a:extLst>
              <a:ext uri="{FF2B5EF4-FFF2-40B4-BE49-F238E27FC236}">
                <a16:creationId xmlns:a16="http://schemas.microsoft.com/office/drawing/2014/main" id="{DBFF262E-4C85-5A4D-9573-128309E7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850F53-C0CB-8147-9B43-110ADC0DF1CB}"/>
              </a:ext>
            </a:extLst>
          </p:cNvPr>
          <p:cNvSpPr/>
          <p:nvPr/>
        </p:nvSpPr>
        <p:spPr>
          <a:xfrm>
            <a:off x="1272209" y="5208103"/>
            <a:ext cx="6361043" cy="1181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b="1" dirty="0">
                <a:solidFill>
                  <a:srgbClr val="3A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Gnanadeep Chittineni</a:t>
            </a:r>
            <a:endParaRPr lang="en-US" dirty="0"/>
          </a:p>
          <a:p>
            <a:pPr>
              <a:lnSpc>
                <a:spcPct val="135000"/>
              </a:lnSpc>
            </a:pPr>
            <a:r>
              <a:rPr lang="en-US" dirty="0">
                <a:solidFill>
                  <a:srgbClr val="3A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25267604</a:t>
            </a:r>
            <a:endParaRPr lang="en-US" dirty="0"/>
          </a:p>
          <a:p>
            <a:pPr>
              <a:lnSpc>
                <a:spcPct val="135000"/>
              </a:lnSpc>
            </a:pPr>
            <a:r>
              <a:rPr lang="en-US" dirty="0">
                <a:solidFill>
                  <a:srgbClr val="3A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Michael Johnson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1644ED-A0D3-AF49-BB52-47F747F314CE}"/>
              </a:ext>
            </a:extLst>
          </p:cNvPr>
          <p:cNvSpPr/>
          <p:nvPr/>
        </p:nvSpPr>
        <p:spPr>
          <a:xfrm>
            <a:off x="5618922" y="3207026"/>
            <a:ext cx="27564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3A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Packet-Level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37160" cy="137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207568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expand faster than defenses</a:t>
            </a:r>
            <a:endParaRPr lang="en-US" sz="1700" dirty="0"/>
          </a:p>
        </p:txBody>
      </p:sp>
      <p:pic>
        <p:nvPicPr>
          <p:cNvPr id="5" name="Image 2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935224"/>
            <a:ext cx="137160" cy="1371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25296" y="2788920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react only to known threats</a:t>
            </a:r>
            <a:endParaRPr lang="en-US" sz="1700" dirty="0"/>
          </a:p>
        </p:txBody>
      </p:sp>
      <p:pic>
        <p:nvPicPr>
          <p:cNvPr id="7" name="Image 3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648456"/>
            <a:ext cx="137160" cy="137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25296" y="3502152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face constant targeted attacks</a:t>
            </a:r>
            <a:endParaRPr lang="en-US" sz="1700" dirty="0"/>
          </a:p>
        </p:txBody>
      </p:sp>
      <p:pic>
        <p:nvPicPr>
          <p:cNvPr id="9" name="Image 4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61688"/>
            <a:ext cx="137160" cy="1371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25296" y="4215384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across tools rarely get connected</a:t>
            </a:r>
            <a:endParaRPr lang="en-US" sz="1700" dirty="0"/>
          </a:p>
        </p:txBody>
      </p:sp>
      <p:pic>
        <p:nvPicPr>
          <p:cNvPr id="11" name="Image 5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74920"/>
            <a:ext cx="137160" cy="13716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25296" y="492861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tools miss critical attack context</a:t>
            </a:r>
            <a:endParaRPr lang="en-US" sz="1700" dirty="0"/>
          </a:p>
        </p:txBody>
      </p:sp>
      <p:pic>
        <p:nvPicPr>
          <p:cNvPr id="13" name="Image 6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137160" cy="1371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25296" y="564184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tools rarely integrate well</a:t>
            </a:r>
            <a:endParaRPr lang="en-US" sz="1700" dirty="0"/>
          </a:p>
        </p:txBody>
      </p:sp>
      <p:sp>
        <p:nvSpPr>
          <p:cNvPr id="17" name="Text 7"/>
          <p:cNvSpPr/>
          <p:nvPr/>
        </p:nvSpPr>
        <p:spPr>
          <a:xfrm>
            <a:off x="7434072" y="4899023"/>
            <a:ext cx="372435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work/assets/bg_slide2b.png">
            <a:extLst>
              <a:ext uri="{FF2B5EF4-FFF2-40B4-BE49-F238E27FC236}">
                <a16:creationId xmlns:a16="http://schemas.microsoft.com/office/drawing/2014/main" id="{E4ED6192-6BA9-5A4C-953E-2E424E62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106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CED38F-2A63-2C46-AB5E-1B2121C0F7CF}"/>
              </a:ext>
            </a:extLst>
          </p:cNvPr>
          <p:cNvSpPr/>
          <p:nvPr/>
        </p:nvSpPr>
        <p:spPr>
          <a:xfrm>
            <a:off x="885826" y="2465432"/>
            <a:ext cx="7311105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 err="1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</a:t>
            </a: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logs connections instead of alerts</a:t>
            </a:r>
            <a:endParaRPr lang="en-US" dirty="0"/>
          </a:p>
        </p:txBody>
      </p:sp>
      <p:pic>
        <p:nvPicPr>
          <p:cNvPr id="4" name="Image 2" descr="/tmp/ppt_work/assets/dot.png">
            <a:extLst>
              <a:ext uri="{FF2B5EF4-FFF2-40B4-BE49-F238E27FC236}">
                <a16:creationId xmlns:a16="http://schemas.microsoft.com/office/drawing/2014/main" id="{E01A13A8-B35F-8648-84CB-A98440AFC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463737" y="2545892"/>
            <a:ext cx="155448" cy="1554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E3B9EB-11CD-B64B-B892-27D9622418C7}"/>
              </a:ext>
            </a:extLst>
          </p:cNvPr>
          <p:cNvSpPr/>
          <p:nvPr/>
        </p:nvSpPr>
        <p:spPr>
          <a:xfrm>
            <a:off x="685800" y="3047229"/>
            <a:ext cx="3973973" cy="381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IOT datasets proved large scale logging</a:t>
            </a:r>
            <a:endParaRPr lang="en-US" dirty="0"/>
          </a:p>
        </p:txBody>
      </p:sp>
      <p:pic>
        <p:nvPicPr>
          <p:cNvPr id="6" name="Image 3" descr="/tmp/ppt_work/assets/dot.png">
            <a:extLst>
              <a:ext uri="{FF2B5EF4-FFF2-40B4-BE49-F238E27FC236}">
                <a16:creationId xmlns:a16="http://schemas.microsoft.com/office/drawing/2014/main" id="{B61D561B-E9A5-9F43-B18D-19E447180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55" y="3168743"/>
            <a:ext cx="168848" cy="1688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65E2F2-5FB0-C04D-A52D-C61EC0568A69}"/>
              </a:ext>
            </a:extLst>
          </p:cNvPr>
          <p:cNvSpPr/>
          <p:nvPr/>
        </p:nvSpPr>
        <p:spPr>
          <a:xfrm>
            <a:off x="885826" y="3638165"/>
            <a:ext cx="6497840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solves fragmented single source alerts</a:t>
            </a:r>
            <a:endParaRPr lang="en-US" dirty="0"/>
          </a:p>
        </p:txBody>
      </p:sp>
      <p:pic>
        <p:nvPicPr>
          <p:cNvPr id="8" name="Image 3" descr="/tmp/ppt_work/assets/dot.png">
            <a:extLst>
              <a:ext uri="{FF2B5EF4-FFF2-40B4-BE49-F238E27FC236}">
                <a16:creationId xmlns:a16="http://schemas.microsoft.com/office/drawing/2014/main" id="{DFFD6366-FA6F-7444-ACE7-36BECAC0C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86" y="3804994"/>
            <a:ext cx="168848" cy="168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95CB62-60AC-4241-8DD8-B44BA8601A78}"/>
              </a:ext>
            </a:extLst>
          </p:cNvPr>
          <p:cNvSpPr/>
          <p:nvPr/>
        </p:nvSpPr>
        <p:spPr>
          <a:xfrm>
            <a:off x="885826" y="4419987"/>
            <a:ext cx="5458544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</a:t>
            </a:r>
            <a:r>
              <a:rPr lang="en-US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multithreading</a:t>
            </a:r>
            <a:endParaRPr lang="en-US" dirty="0"/>
          </a:p>
        </p:txBody>
      </p:sp>
      <p:pic>
        <p:nvPicPr>
          <p:cNvPr id="10" name="Image 3" descr="/tmp/ppt_work/assets/dot.png">
            <a:extLst>
              <a:ext uri="{FF2B5EF4-FFF2-40B4-BE49-F238E27FC236}">
                <a16:creationId xmlns:a16="http://schemas.microsoft.com/office/drawing/2014/main" id="{4EB632B9-5911-9E42-AC0B-5E8EF4E3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85" y="4609732"/>
            <a:ext cx="168849" cy="168849"/>
          </a:xfrm>
          <a:prstGeom prst="rect">
            <a:avLst/>
          </a:prstGeom>
        </p:spPr>
      </p:pic>
      <p:pic>
        <p:nvPicPr>
          <p:cNvPr id="11" name="Image 7" descr="/tmp/ppt_work/report_media/zeek_logs.png">
            <a:extLst>
              <a:ext uri="{FF2B5EF4-FFF2-40B4-BE49-F238E27FC236}">
                <a16:creationId xmlns:a16="http://schemas.microsoft.com/office/drawing/2014/main" id="{81E074FF-72E7-E243-B474-D090C3869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261" y="2297845"/>
            <a:ext cx="7127288" cy="12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82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>
            <a:extLst>
              <a:ext uri="{FF2B5EF4-FFF2-40B4-BE49-F238E27FC236}">
                <a16:creationId xmlns:a16="http://schemas.microsoft.com/office/drawing/2014/main" id="{AD4AB95A-2F1E-074E-B4BB-FE6F62EB7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C2F7D0-B83F-2D4F-9EA2-DC89E70DB9CC}"/>
              </a:ext>
            </a:extLst>
          </p:cNvPr>
          <p:cNvSpPr/>
          <p:nvPr/>
        </p:nvSpPr>
        <p:spPr>
          <a:xfrm>
            <a:off x="1085851" y="1971675"/>
            <a:ext cx="7353932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intrusions across multiple network layers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C6A2B-8807-F04B-8356-7282BE7DC434}"/>
              </a:ext>
            </a:extLst>
          </p:cNvPr>
          <p:cNvSpPr/>
          <p:nvPr/>
        </p:nvSpPr>
        <p:spPr>
          <a:xfrm>
            <a:off x="1093192" y="2856344"/>
            <a:ext cx="4702249" cy="381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alerts from independent security tools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8E515-6080-8347-BCF7-8F47FB823E75}"/>
              </a:ext>
            </a:extLst>
          </p:cNvPr>
          <p:cNvSpPr/>
          <p:nvPr/>
        </p:nvSpPr>
        <p:spPr>
          <a:xfrm>
            <a:off x="1144466" y="3651295"/>
            <a:ext cx="3800592" cy="381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alerts using packet level analysis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94588-6261-8D45-A620-3E8D053F3912}"/>
              </a:ext>
            </a:extLst>
          </p:cNvPr>
          <p:cNvSpPr/>
          <p:nvPr/>
        </p:nvSpPr>
        <p:spPr>
          <a:xfrm>
            <a:off x="1144466" y="4504555"/>
            <a:ext cx="4689425" cy="381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entirely with open source tools</a:t>
            </a:r>
            <a:endParaRPr lang="en-US" dirty="0"/>
          </a:p>
        </p:txBody>
      </p:sp>
      <p:pic>
        <p:nvPicPr>
          <p:cNvPr id="8" name="Image 7" descr="/tmp/ppt_work/report_media/wireshark_tcp.png">
            <a:extLst>
              <a:ext uri="{FF2B5EF4-FFF2-40B4-BE49-F238E27FC236}">
                <a16:creationId xmlns:a16="http://schemas.microsoft.com/office/drawing/2014/main" id="{AE43EA16-2339-C148-BA4C-D4F14D87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643" y="1880951"/>
            <a:ext cx="4767108" cy="309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5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37160" cy="137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207568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Used Tools: Suricata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	   Zeek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	  Sysmon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	  Splunk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	 Tcpdump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	 Wireshark</a:t>
            </a:r>
            <a:endParaRPr lang="en-US" sz="1700" dirty="0"/>
          </a:p>
        </p:txBody>
      </p:sp>
      <p:sp>
        <p:nvSpPr>
          <p:cNvPr id="6" name="Text 1"/>
          <p:cNvSpPr/>
          <p:nvPr/>
        </p:nvSpPr>
        <p:spPr>
          <a:xfrm>
            <a:off x="1225296" y="2788920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8" name="Text 2"/>
          <p:cNvSpPr/>
          <p:nvPr/>
        </p:nvSpPr>
        <p:spPr>
          <a:xfrm>
            <a:off x="1225296" y="3502152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10" name="Text 3"/>
          <p:cNvSpPr/>
          <p:nvPr/>
        </p:nvSpPr>
        <p:spPr>
          <a:xfrm>
            <a:off x="1225296" y="4215384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12" name="Text 4"/>
          <p:cNvSpPr/>
          <p:nvPr/>
        </p:nvSpPr>
        <p:spPr>
          <a:xfrm>
            <a:off x="1225296" y="492861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sp>
        <p:nvSpPr>
          <p:cNvPr id="14" name="Text 5"/>
          <p:cNvSpPr/>
          <p:nvPr/>
        </p:nvSpPr>
        <p:spPr>
          <a:xfrm>
            <a:off x="1225296" y="564184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pic>
        <p:nvPicPr>
          <p:cNvPr id="16" name="Image 7" descr="/tmp/ppt_work/report_media/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258" y="1929384"/>
            <a:ext cx="7418092" cy="404623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434072" y="4899023"/>
            <a:ext cx="372435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37160" cy="137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207568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runs Emerging Threats rule sets</a:t>
            </a:r>
            <a:endParaRPr lang="en-US" sz="1700" dirty="0"/>
          </a:p>
        </p:txBody>
      </p:sp>
      <p:pic>
        <p:nvPicPr>
          <p:cNvPr id="5" name="Image 2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935224"/>
            <a:ext cx="137160" cy="1371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25296" y="2788920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generates connection, DNS, HTTP logs</a:t>
            </a:r>
            <a:endParaRPr lang="en-US" sz="1700" dirty="0"/>
          </a:p>
        </p:txBody>
      </p:sp>
      <p:pic>
        <p:nvPicPr>
          <p:cNvPr id="7" name="Image 3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648456"/>
            <a:ext cx="137160" cy="137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25296" y="3502152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captures process and network events</a:t>
            </a:r>
            <a:endParaRPr lang="en-US" sz="1700" dirty="0"/>
          </a:p>
        </p:txBody>
      </p:sp>
      <p:pic>
        <p:nvPicPr>
          <p:cNvPr id="9" name="Image 4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61688"/>
            <a:ext cx="137160" cy="1371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25296" y="4215384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rules flag port scan attempts</a:t>
            </a:r>
            <a:endParaRPr lang="en-US" sz="1700" dirty="0"/>
          </a:p>
        </p:txBody>
      </p:sp>
      <p:sp>
        <p:nvSpPr>
          <p:cNvPr id="12" name="Text 4"/>
          <p:cNvSpPr/>
          <p:nvPr/>
        </p:nvSpPr>
        <p:spPr>
          <a:xfrm>
            <a:off x="1225296" y="492861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</p:txBody>
      </p:sp>
      <p:pic>
        <p:nvPicPr>
          <p:cNvPr id="13" name="Image 6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58088" y="5074920"/>
            <a:ext cx="137160" cy="1371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25296" y="4940342"/>
            <a:ext cx="5660136" cy="1250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captures packets for later verification</a:t>
            </a:r>
            <a:endParaRPr lang="en-US" sz="1700" dirty="0"/>
          </a:p>
        </p:txBody>
      </p:sp>
      <p:sp>
        <p:nvSpPr>
          <p:cNvPr id="17" name="Text 7"/>
          <p:cNvSpPr/>
          <p:nvPr/>
        </p:nvSpPr>
        <p:spPr>
          <a:xfrm>
            <a:off x="7434072" y="4602014"/>
            <a:ext cx="372435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6AF319-687C-904B-8F08-F9A9DD86D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930" y="3087097"/>
            <a:ext cx="5976732" cy="16769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37160" cy="137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207568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exceeded ninety percent overall</a:t>
            </a:r>
            <a:endParaRPr lang="en-US" sz="1700" dirty="0"/>
          </a:p>
        </p:txBody>
      </p:sp>
      <p:pic>
        <p:nvPicPr>
          <p:cNvPr id="5" name="Image 2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935224"/>
            <a:ext cx="137160" cy="1371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25296" y="2788920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stayed below ten percent</a:t>
            </a:r>
            <a:endParaRPr lang="en-US" sz="1700" dirty="0"/>
          </a:p>
        </p:txBody>
      </p:sp>
      <p:pic>
        <p:nvPicPr>
          <p:cNvPr id="7" name="Image 3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648456"/>
            <a:ext cx="137160" cy="137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25296" y="3502152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fired within sixty seconds average</a:t>
            </a:r>
            <a:endParaRPr lang="en-US" sz="1700" dirty="0"/>
          </a:p>
        </p:txBody>
      </p:sp>
      <p:pic>
        <p:nvPicPr>
          <p:cNvPr id="9" name="Image 4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61688"/>
            <a:ext cx="137160" cy="1371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25296" y="4215384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captures confirmed most flagged alerts</a:t>
            </a:r>
            <a:endParaRPr lang="en-US" sz="1700" dirty="0"/>
          </a:p>
        </p:txBody>
      </p:sp>
      <p:pic>
        <p:nvPicPr>
          <p:cNvPr id="11" name="Image 5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74920"/>
            <a:ext cx="137160" cy="13716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25296" y="492861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dashboards visualized alerts across sources</a:t>
            </a:r>
            <a:endParaRPr lang="en-US" sz="1700" dirty="0"/>
          </a:p>
        </p:txBody>
      </p:sp>
      <p:pic>
        <p:nvPicPr>
          <p:cNvPr id="13" name="Image 6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137160" cy="1371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25296" y="564184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alerts proved more reliable overall</a:t>
            </a:r>
            <a:endParaRPr lang="en-US" sz="1700" dirty="0"/>
          </a:p>
        </p:txBody>
      </p:sp>
      <p:pic>
        <p:nvPicPr>
          <p:cNvPr id="16" name="Image 7" descr="/tmp/ppt_work/report_media/splunk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837" y="1730257"/>
            <a:ext cx="3670851" cy="464107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421328" y="5696712"/>
            <a:ext cx="174983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work/assets/bg_slide_limitations.png">
            <a:extLst>
              <a:ext uri="{FF2B5EF4-FFF2-40B4-BE49-F238E27FC236}">
                <a16:creationId xmlns:a16="http://schemas.microsoft.com/office/drawing/2014/main" id="{09D328CA-D91B-7448-A245-AA42EF97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B29774-1810-C547-8140-87FD98723D7F}"/>
              </a:ext>
            </a:extLst>
          </p:cNvPr>
          <p:cNvSpPr/>
          <p:nvPr/>
        </p:nvSpPr>
        <p:spPr>
          <a:xfrm>
            <a:off x="856034" y="1916349"/>
            <a:ext cx="7418351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limited to one simulated lab network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52952-07AF-704E-B568-09672820FEFC}"/>
              </a:ext>
            </a:extLst>
          </p:cNvPr>
          <p:cNvSpPr/>
          <p:nvPr/>
        </p:nvSpPr>
        <p:spPr>
          <a:xfrm>
            <a:off x="856034" y="2645923"/>
            <a:ext cx="7511454" cy="1600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volume can overwhelm log storage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1A1816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Inconsistent signature detection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1A1816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cs typeface="Calibri" pitchFamily="34" charset="-120"/>
              </a:rPr>
              <a:t>High False positive rate</a:t>
            </a:r>
            <a:endParaRPr lang="en-US" dirty="0"/>
          </a:p>
        </p:txBody>
      </p:sp>
      <p:pic>
        <p:nvPicPr>
          <p:cNvPr id="5" name="Image 1" descr="/tmp/ppt_work/assets/dot.png">
            <a:extLst>
              <a:ext uri="{FF2B5EF4-FFF2-40B4-BE49-F238E27FC236}">
                <a16:creationId xmlns:a16="http://schemas.microsoft.com/office/drawing/2014/main" id="{0C2BD333-0A59-0943-9570-8E987C087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4" y="3973530"/>
            <a:ext cx="137160" cy="137160"/>
          </a:xfrm>
          <a:prstGeom prst="rect">
            <a:avLst/>
          </a:prstGeom>
        </p:spPr>
      </p:pic>
      <p:pic>
        <p:nvPicPr>
          <p:cNvPr id="6" name="Image 1" descr="/tmp/ppt_work/assets/dot.png">
            <a:extLst>
              <a:ext uri="{FF2B5EF4-FFF2-40B4-BE49-F238E27FC236}">
                <a16:creationId xmlns:a16="http://schemas.microsoft.com/office/drawing/2014/main" id="{C648280B-0E8A-434E-AF66-27E6727AF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4" y="3377626"/>
            <a:ext cx="137160" cy="137160"/>
          </a:xfrm>
          <a:prstGeom prst="rect">
            <a:avLst/>
          </a:prstGeom>
        </p:spPr>
      </p:pic>
      <p:pic>
        <p:nvPicPr>
          <p:cNvPr id="7" name="Image 1" descr="/tmp/ppt_work/assets/dot.png">
            <a:extLst>
              <a:ext uri="{FF2B5EF4-FFF2-40B4-BE49-F238E27FC236}">
                <a16:creationId xmlns:a16="http://schemas.microsoft.com/office/drawing/2014/main" id="{7D506044-F431-BF4C-B34F-97A3F4CA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4" y="2769293"/>
            <a:ext cx="137160" cy="137160"/>
          </a:xfrm>
          <a:prstGeom prst="rect">
            <a:avLst/>
          </a:prstGeom>
        </p:spPr>
      </p:pic>
      <p:pic>
        <p:nvPicPr>
          <p:cNvPr id="8" name="Image 1" descr="/tmp/ppt_work/assets/dot.png">
            <a:extLst>
              <a:ext uri="{FF2B5EF4-FFF2-40B4-BE49-F238E27FC236}">
                <a16:creationId xmlns:a16="http://schemas.microsoft.com/office/drawing/2014/main" id="{0625BD91-17E5-6541-99BC-B17E36F5F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4" y="2050019"/>
            <a:ext cx="137160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2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work/assets/bg_slide_ethics.png">
            <a:extLst>
              <a:ext uri="{FF2B5EF4-FFF2-40B4-BE49-F238E27FC236}">
                <a16:creationId xmlns:a16="http://schemas.microsoft.com/office/drawing/2014/main" id="{34730FC0-8F3C-0A47-B074-22886ABD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25DD35-A1CB-454A-BB3F-D98A4FE08EA7}"/>
              </a:ext>
            </a:extLst>
          </p:cNvPr>
          <p:cNvSpPr/>
          <p:nvPr/>
        </p:nvSpPr>
        <p:spPr>
          <a:xfrm>
            <a:off x="885217" y="2013627"/>
            <a:ext cx="7346688" cy="371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must respect user privacy rights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1A1816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traffic can expose sensitive personal data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occurred only on owned lab systems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require clear organizational consent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captures need controlled secure storage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tools must never enable offensive misuse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4" name="Image 1" descr="/tmp/ppt_work/assets/dot.png">
            <a:extLst>
              <a:ext uri="{FF2B5EF4-FFF2-40B4-BE49-F238E27FC236}">
                <a16:creationId xmlns:a16="http://schemas.microsoft.com/office/drawing/2014/main" id="{6D96761D-E006-7E49-BA0D-036A0973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2124715"/>
            <a:ext cx="137160" cy="137160"/>
          </a:xfrm>
          <a:prstGeom prst="rect">
            <a:avLst/>
          </a:prstGeom>
        </p:spPr>
      </p:pic>
      <p:pic>
        <p:nvPicPr>
          <p:cNvPr id="5" name="Image 1" descr="/tmp/ppt_work/assets/dot.png">
            <a:extLst>
              <a:ext uri="{FF2B5EF4-FFF2-40B4-BE49-F238E27FC236}">
                <a16:creationId xmlns:a16="http://schemas.microsoft.com/office/drawing/2014/main" id="{F240A03D-DF65-F14E-9628-23E6C3DCB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2757216"/>
            <a:ext cx="137160" cy="137160"/>
          </a:xfrm>
          <a:prstGeom prst="rect">
            <a:avLst/>
          </a:prstGeom>
        </p:spPr>
      </p:pic>
      <p:pic>
        <p:nvPicPr>
          <p:cNvPr id="6" name="Image 1" descr="/tmp/ppt_work/assets/dot.png">
            <a:extLst>
              <a:ext uri="{FF2B5EF4-FFF2-40B4-BE49-F238E27FC236}">
                <a16:creationId xmlns:a16="http://schemas.microsoft.com/office/drawing/2014/main" id="{AD24675C-F9F8-8149-A649-3FACB150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3360420"/>
            <a:ext cx="137160" cy="137160"/>
          </a:xfrm>
          <a:prstGeom prst="rect">
            <a:avLst/>
          </a:prstGeom>
        </p:spPr>
      </p:pic>
      <p:pic>
        <p:nvPicPr>
          <p:cNvPr id="7" name="Image 1" descr="/tmp/ppt_work/assets/dot.png">
            <a:extLst>
              <a:ext uri="{FF2B5EF4-FFF2-40B4-BE49-F238E27FC236}">
                <a16:creationId xmlns:a16="http://schemas.microsoft.com/office/drawing/2014/main" id="{B8BE0CFB-88BC-434C-B43A-09752DF3F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3963624"/>
            <a:ext cx="137160" cy="137160"/>
          </a:xfrm>
          <a:prstGeom prst="rect">
            <a:avLst/>
          </a:prstGeom>
        </p:spPr>
      </p:pic>
      <p:pic>
        <p:nvPicPr>
          <p:cNvPr id="8" name="Image 1" descr="/tmp/ppt_work/assets/dot.png">
            <a:extLst>
              <a:ext uri="{FF2B5EF4-FFF2-40B4-BE49-F238E27FC236}">
                <a16:creationId xmlns:a16="http://schemas.microsoft.com/office/drawing/2014/main" id="{62AAE1C2-FB97-5440-8B71-984A8547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4566828"/>
            <a:ext cx="137160" cy="137160"/>
          </a:xfrm>
          <a:prstGeom prst="rect">
            <a:avLst/>
          </a:prstGeom>
        </p:spPr>
      </p:pic>
      <p:pic>
        <p:nvPicPr>
          <p:cNvPr id="9" name="Image 1" descr="/tmp/ppt_work/assets/dot.png">
            <a:extLst>
              <a:ext uri="{FF2B5EF4-FFF2-40B4-BE49-F238E27FC236}">
                <a16:creationId xmlns:a16="http://schemas.microsoft.com/office/drawing/2014/main" id="{0D79325C-D3A4-D84E-9992-104D3592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7" y="5170032"/>
            <a:ext cx="137160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9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37160" cy="137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207568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tools rival costly platforms</a:t>
            </a:r>
            <a:endParaRPr lang="en-US" sz="1700" dirty="0"/>
          </a:p>
        </p:txBody>
      </p:sp>
      <p:pic>
        <p:nvPicPr>
          <p:cNvPr id="5" name="Image 2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935224"/>
            <a:ext cx="137160" cy="1371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25296" y="2788920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turns isolated alerts into evidence</a:t>
            </a:r>
            <a:endParaRPr lang="en-US" sz="1700" dirty="0"/>
          </a:p>
        </p:txBody>
      </p:sp>
      <p:pic>
        <p:nvPicPr>
          <p:cNvPr id="7" name="Image 3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648456"/>
            <a:ext cx="137160" cy="137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25296" y="3502152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can now afford visibility</a:t>
            </a:r>
            <a:endParaRPr lang="en-US" sz="1700" dirty="0"/>
          </a:p>
        </p:txBody>
      </p:sp>
      <p:pic>
        <p:nvPicPr>
          <p:cNvPr id="9" name="Image 4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61688"/>
            <a:ext cx="137160" cy="1371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25296" y="4215384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could catch unknown threats</a:t>
            </a:r>
            <a:endParaRPr lang="en-US" sz="1700" dirty="0"/>
          </a:p>
        </p:txBody>
      </p:sp>
      <p:pic>
        <p:nvPicPr>
          <p:cNvPr id="11" name="Image 5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74920"/>
            <a:ext cx="137160" cy="13716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25296" y="492861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should test larger networks</a:t>
            </a:r>
            <a:endParaRPr lang="en-US" sz="1700" dirty="0"/>
          </a:p>
        </p:txBody>
      </p:sp>
      <p:pic>
        <p:nvPicPr>
          <p:cNvPr id="13" name="Image 6" descr="/tmp/ppt_work/assets/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137160" cy="1371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25296" y="5641848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scales beyond the lab</a:t>
            </a:r>
            <a:endParaRPr lang="en-US" sz="1700" dirty="0"/>
          </a:p>
        </p:txBody>
      </p:sp>
      <p:sp>
        <p:nvSpPr>
          <p:cNvPr id="17" name="Text 7"/>
          <p:cNvSpPr/>
          <p:nvPr/>
        </p:nvSpPr>
        <p:spPr>
          <a:xfrm>
            <a:off x="7434072" y="4899023"/>
            <a:ext cx="372435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Thank you">
            <a:extLst>
              <a:ext uri="{FF2B5EF4-FFF2-40B4-BE49-F238E27FC236}">
                <a16:creationId xmlns:a16="http://schemas.microsoft.com/office/drawing/2014/main" id="{48D46A81-1492-CB4E-8F6C-F2635A3D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6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286</Words>
  <Application>Microsoft Macintosh PowerPoint</Application>
  <PresentationFormat>Widescreen</PresentationFormat>
  <Paragraphs>63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14</cp:revision>
  <dcterms:created xsi:type="dcterms:W3CDTF">2026-08-18T19:56:10Z</dcterms:created>
  <dcterms:modified xsi:type="dcterms:W3CDTF">2026-08-19T15:51:47Z</dcterms:modified>
</cp:coreProperties>
</file>